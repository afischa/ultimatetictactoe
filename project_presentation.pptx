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5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DC365-16A4-4271-98F3-359653C6A026}" v="353" dt="2026-05-01T21:47:20.659"/>
    <p1510:client id="{FD3ABAEA-5997-408E-4FE5-B69911719440}" v="1376" dt="2026-05-01T19:40:38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AI win rate vs depth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Sheet1!$B$2</c:f>
              <c:strCache>
                <c:ptCount val="1"/>
                <c:pt idx="0">
                  <c:v>Blocker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Sheet1!$A$3:$A$6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  <c:extLst/>
            </c:numRef>
          </c:cat>
          <c:val>
            <c:numRef>
              <c:f>Sheet1!$B$3:$B$6</c:f>
              <c:numCache>
                <c:formatCode>General</c:formatCode>
                <c:ptCount val="4"/>
                <c:pt idx="0">
                  <c:v>96</c:v>
                </c:pt>
                <c:pt idx="1">
                  <c:v>92</c:v>
                </c:pt>
                <c:pt idx="2">
                  <c:v>100</c:v>
                </c:pt>
                <c:pt idx="3">
                  <c:v>100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E21A-45AD-BBD6-24C0CADB4549}"/>
            </c:ext>
          </c:extLst>
        </c:ser>
        <c:ser>
          <c:idx val="2"/>
          <c:order val="2"/>
          <c:tx>
            <c:strRef>
              <c:f>Sheet1!$C$2</c:f>
              <c:strCache>
                <c:ptCount val="1"/>
                <c:pt idx="0">
                  <c:v>Greedy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Sheet1!$A$3:$A$6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  <c:extLst/>
            </c:numRef>
          </c:cat>
          <c:val>
            <c:numRef>
              <c:f>Sheet1!$C$3:$C$6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98</c:v>
                </c:pt>
                <c:pt idx="3">
                  <c:v>96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E21A-45AD-BBD6-24C0CADB4549}"/>
            </c:ext>
          </c:extLst>
        </c:ser>
        <c:ser>
          <c:idx val="3"/>
          <c:order val="3"/>
          <c:tx>
            <c:strRef>
              <c:f>Sheet1!$D$2</c:f>
              <c:strCache>
                <c:ptCount val="1"/>
                <c:pt idx="0">
                  <c:v>Heuristic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Sheet1!$A$3:$A$6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  <c:extLst/>
            </c:numRef>
          </c:cat>
          <c:val>
            <c:numRef>
              <c:f>Sheet1!$D$3:$D$6</c:f>
              <c:numCache>
                <c:formatCode>General</c:formatCode>
                <c:ptCount val="4"/>
                <c:pt idx="0">
                  <c:v>84</c:v>
                </c:pt>
                <c:pt idx="1">
                  <c:v>92</c:v>
                </c:pt>
                <c:pt idx="2">
                  <c:v>90</c:v>
                </c:pt>
                <c:pt idx="3">
                  <c:v>94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E21A-45AD-BBD6-24C0CADB4549}"/>
            </c:ext>
          </c:extLst>
        </c:ser>
        <c:ser>
          <c:idx val="4"/>
          <c:order val="4"/>
          <c:tx>
            <c:strRef>
              <c:f>Sheet1!$E$2</c:f>
              <c:strCache>
                <c:ptCount val="1"/>
                <c:pt idx="0">
                  <c:v>Random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Sheet1!$A$3:$A$6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  <c:extLst/>
            </c:numRef>
          </c:cat>
          <c:val>
            <c:numRef>
              <c:f>Sheet1!$E$3:$E$6</c:f>
              <c:numCache>
                <c:formatCode>General</c:formatCode>
                <c:ptCount val="4"/>
                <c:pt idx="0">
                  <c:v>98</c:v>
                </c:pt>
                <c:pt idx="1">
                  <c:v>98</c:v>
                </c:pt>
                <c:pt idx="2">
                  <c:v>98</c:v>
                </c:pt>
                <c:pt idx="3">
                  <c:v>100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E21A-45AD-BBD6-24C0CADB4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5520943"/>
        <c:axId val="2095529583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Depth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Sheet1!$A$3:$A$6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Sheet1!$A$3:$A$6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E21A-45AD-BBD6-24C0CADB4549}"/>
                  </c:ext>
                </c:extLst>
              </c15:ser>
            </c15:filteredLineSeries>
          </c:ext>
        </c:extLst>
      </c:lineChart>
      <c:catAx>
        <c:axId val="20955209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Depth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529583"/>
        <c:crosses val="autoZero"/>
        <c:auto val="1"/>
        <c:lblAlgn val="ctr"/>
        <c:lblOffset val="100"/>
        <c:noMultiLvlLbl val="0"/>
      </c:catAx>
      <c:valAx>
        <c:axId val="209552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AI</a:t>
                </a:r>
                <a:r>
                  <a:rPr lang="en-US" baseline="0"/>
                  <a:t> win rate 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520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move time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Sheet1!$H$2</c:f>
              <c:strCache>
                <c:ptCount val="1"/>
                <c:pt idx="0">
                  <c:v>Blocker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Sheet1!$G$3:$G$7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Sheet1!$H$3:$H$7</c:f>
              <c:numCache>
                <c:formatCode>General</c:formatCode>
                <c:ptCount val="5"/>
                <c:pt idx="0">
                  <c:v>2.1700000000000001E-2</c:v>
                </c:pt>
                <c:pt idx="1">
                  <c:v>0.1198</c:v>
                </c:pt>
                <c:pt idx="2">
                  <c:v>0.53069999999999995</c:v>
                </c:pt>
                <c:pt idx="3">
                  <c:v>1.7948</c:v>
                </c:pt>
                <c:pt idx="4">
                  <c:v>11.5831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A3-4287-8A43-1ACCB2A45FFB}"/>
            </c:ext>
          </c:extLst>
        </c:ser>
        <c:ser>
          <c:idx val="2"/>
          <c:order val="2"/>
          <c:tx>
            <c:strRef>
              <c:f>Sheet1!$I$2</c:f>
              <c:strCache>
                <c:ptCount val="1"/>
                <c:pt idx="0">
                  <c:v>Greedy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Sheet1!$G$3:$G$7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Sheet1!$I$3:$I$7</c:f>
              <c:numCache>
                <c:formatCode>General</c:formatCode>
                <c:ptCount val="5"/>
                <c:pt idx="0">
                  <c:v>2.58E-2</c:v>
                </c:pt>
                <c:pt idx="1">
                  <c:v>0.1164</c:v>
                </c:pt>
                <c:pt idx="2">
                  <c:v>0.56559999999999999</c:v>
                </c:pt>
                <c:pt idx="3">
                  <c:v>1.806</c:v>
                </c:pt>
                <c:pt idx="4">
                  <c:v>9.3437000000000001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A3-4287-8A43-1ACCB2A45FFB}"/>
            </c:ext>
          </c:extLst>
        </c:ser>
        <c:ser>
          <c:idx val="3"/>
          <c:order val="3"/>
          <c:tx>
            <c:strRef>
              <c:f>Sheet1!$J$2</c:f>
              <c:strCache>
                <c:ptCount val="1"/>
                <c:pt idx="0">
                  <c:v>Heuristic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Sheet1!$G$3:$G$7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Sheet1!$J$3:$J$7</c:f>
              <c:numCache>
                <c:formatCode>General</c:formatCode>
                <c:ptCount val="5"/>
                <c:pt idx="0">
                  <c:v>1.9699999999999999E-2</c:v>
                </c:pt>
                <c:pt idx="1">
                  <c:v>0.1036</c:v>
                </c:pt>
                <c:pt idx="2">
                  <c:v>0.43290000000000001</c:v>
                </c:pt>
                <c:pt idx="3">
                  <c:v>1.869</c:v>
                </c:pt>
                <c:pt idx="4">
                  <c:v>6.2081999999999997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A3-4287-8A43-1ACCB2A45FFB}"/>
            </c:ext>
          </c:extLst>
        </c:ser>
        <c:ser>
          <c:idx val="4"/>
          <c:order val="4"/>
          <c:tx>
            <c:strRef>
              <c:f>Sheet1!$K$2</c:f>
              <c:strCache>
                <c:ptCount val="1"/>
                <c:pt idx="0">
                  <c:v>Random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Sheet1!$G$3:$G$7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Sheet1!$K$3:$K$7</c:f>
              <c:numCache>
                <c:formatCode>General</c:formatCode>
                <c:ptCount val="5"/>
                <c:pt idx="0">
                  <c:v>6.3E-3</c:v>
                </c:pt>
                <c:pt idx="1">
                  <c:v>3.78E-2</c:v>
                </c:pt>
                <c:pt idx="2">
                  <c:v>0.15690000000000001</c:v>
                </c:pt>
                <c:pt idx="3">
                  <c:v>0.63270000000000004</c:v>
                </c:pt>
                <c:pt idx="4">
                  <c:v>1.4504999999999999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6A3-4287-8A43-1ACCB2A45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2418687"/>
        <c:axId val="181241964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Sheet1!$G$2</c15:sqref>
                        </c15:formulaRef>
                      </c:ext>
                    </c:extLst>
                    <c:strCache>
                      <c:ptCount val="1"/>
                      <c:pt idx="0">
                        <c:v>Depth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Sheet1!$G$3:$G$7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5</c:v>
                      </c:pt>
                      <c:pt idx="4">
                        <c:v>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Sheet1!$G$3:$G$7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5</c:v>
                      </c:pt>
                      <c:pt idx="4">
                        <c:v>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16A3-4287-8A43-1ACCB2A45FFB}"/>
                  </c:ext>
                </c:extLst>
              </c15:ser>
            </c15:filteredLineSeries>
          </c:ext>
        </c:extLst>
      </c:lineChart>
      <c:catAx>
        <c:axId val="18124186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Depth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419647"/>
        <c:crosses val="autoZero"/>
        <c:auto val="1"/>
        <c:lblAlgn val="ctr"/>
        <c:lblOffset val="100"/>
        <c:noMultiLvlLbl val="0"/>
      </c:catAx>
      <c:valAx>
        <c:axId val="1812419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Move</a:t>
                </a:r>
                <a:r>
                  <a:rPr lang="en-US" baseline="0"/>
                  <a:t> time (s)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418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3095-34F3-D7D6-F6EB-1EF29800D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4AAE5-3383-97B3-5995-248374E35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263A2-B960-9E9C-5B60-44432C06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77E2-F64A-E276-D93C-E81913B4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7A0B2-51E1-10DD-A789-3DCC27B3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19D1-2F1E-E01C-8A32-72C1AA71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66FB-5A8D-16E3-CA7F-E01A05606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EB95C-CEC3-C289-20F0-EE273614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E732-75EB-EB34-12A2-F7B490B8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D8D1-3836-E785-8642-147D96DC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4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EBD4-9C9B-16C5-F861-C57A7021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0CE23-3371-FE84-8C9D-5D34E9C1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C0FA2-8A6B-8710-526E-DEAD858B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1E868-68EC-FACA-344F-5FF2A49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B2797-BA05-0D50-1687-8E467297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BB60-58E8-E32D-9633-6F42CE17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6CADD-19E6-6D0F-C96D-68F85AC7B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7646C-B290-C20C-D075-65A603CF4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A4005-AB0D-95CB-CA38-84F08842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420C-FAE7-5AF7-8A68-0541B854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3869B-C84E-A6BA-D3EB-2F9B37E7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7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49B9-7C84-5E13-4FCA-B720606A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C0866-8E1B-4D91-C28C-89EC61822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BFD64-1E95-1B6F-B91B-2F0D061F3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0A883-8423-0B4C-A82A-4A31B9E68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52920-B3DF-CCBB-AF3A-B04B57744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3018C-9C9F-CA50-E6B1-D0865890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A4F7C-36DB-FEC9-4484-A697CBBD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B4996-D984-3690-0E11-800112C9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808B-5C6C-3C0E-6D0E-81114B81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A89AB-D651-FD36-72CE-D8CCBAB0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CC982-BB83-BD6A-7966-B5EAF730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B086A-E8E8-C1A2-76EA-682ABA83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7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38EDC-781B-148A-AD6A-A6729853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E09A6-0C50-779A-C60B-0FBEFEB2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1BDDC-5A8B-2DC5-7058-9C766A98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3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BB8E-FB38-67AE-6EDE-D847130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4EBE-F9B4-24EF-6D37-262D5A950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9A8AC-C688-64D3-D5F1-8A3B9E46F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8B727-F577-BDAD-49D5-49246162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D7583-30C7-A11D-C8F6-2587130F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DD57-AE62-B94A-D809-0B1294F8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9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074F-FEFC-EFE2-68AA-3182E53A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F8D836-DF95-894F-24AE-3DC5DDBC2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F7522-82F4-8B3B-15BE-0EF79E469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4B20A-7763-10E7-38FC-C44E1331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25FBE-0D63-C82F-0E7A-89063A13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8FBD7-87E1-1273-A7AB-3D4827C9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2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FBBD-5FC5-0BDB-C8FC-EE55CECE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92F0A-9C96-9F6E-85EB-94E7AF8E7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F378-AB32-35B0-3477-1687DD651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CF8C4-A4ED-EFC0-2745-9AD1D1A7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A02F2-F598-8A08-5420-81B59DC7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2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D014D-E2A3-6098-636A-A7CF869F4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CDFC1-357D-4EB3-544F-D335DB275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8AAAC-30D1-1C76-9F64-89E1370F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43AB-E43A-3C9E-18EA-B78C1447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667F1-07D7-44E1-9867-C908189D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30B7C-6D54-ED99-96B0-E66E9C489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0A73B-E50F-FF1F-57D6-5F40B40B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8CC5-7465-DDE5-0651-49651103A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45701-C48D-4DAD-8ECB-4D4070C13D6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01E88-7024-7897-7D7F-F9DF4AD8C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AAE36-9CDF-4866-EF17-1693107B5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2D5F3-B390-41F5-83F7-38546905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estedsoftware.com/2019/06/15/tic-tac-toe-with-the-minimax-algorithm-5988.123625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wL2xE1l55w?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05D6-2284-6CC0-3322-89DD1758C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Ultimate tic tac toe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D4E95-C2C8-460C-3E08-3C9CD2810A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Elliott Tai, Asa Fischer, Riley Marek</a:t>
            </a:r>
          </a:p>
        </p:txBody>
      </p:sp>
    </p:spTree>
    <p:extLst>
      <p:ext uri="{BB962C8B-B14F-4D97-AF65-F5344CB8AC3E}">
        <p14:creationId xmlns:p14="http://schemas.microsoft.com/office/powerpoint/2010/main" val="391481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CE54-1F91-CBF2-3A68-06CA38BA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7D8A25-DD1D-AE59-D862-BDEFEFB67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5830" y="1807337"/>
            <a:ext cx="4289972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FE379-C82B-AD21-776A-2FC083261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200" y="1774800"/>
            <a:ext cx="4395233" cy="43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8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1E83-AABF-79AF-873A-7692F05B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74B9C-3838-1593-4969-45D793DA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Minimax tree</a:t>
            </a:r>
          </a:p>
          <a:p>
            <a:r>
              <a:rPr lang="en-US"/>
              <a:t>Limited depth</a:t>
            </a:r>
          </a:p>
          <a:p>
            <a:r>
              <a:rPr lang="en-US"/>
              <a:t>Heuristic</a:t>
            </a:r>
          </a:p>
          <a:p>
            <a:r>
              <a:rPr lang="en-US"/>
              <a:t>Alpha-beta</a:t>
            </a:r>
          </a:p>
        </p:txBody>
      </p:sp>
      <p:pic>
        <p:nvPicPr>
          <p:cNvPr id="4" name="Picture 3" descr="Tic-Tac-Toe with the Minimax Algorithm">
            <a:extLst>
              <a:ext uri="{FF2B5EF4-FFF2-40B4-BE49-F238E27FC236}">
                <a16:creationId xmlns:a16="http://schemas.microsoft.com/office/drawing/2014/main" id="{C1BD8DA1-1A74-2E2F-8180-C3290C51BE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4" y="1914524"/>
            <a:ext cx="5851525" cy="35930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19AFD6-C7D8-FC6E-E27E-1AF15626DE35}"/>
              </a:ext>
            </a:extLst>
          </p:cNvPr>
          <p:cNvSpPr txBox="1"/>
          <p:nvPr/>
        </p:nvSpPr>
        <p:spPr>
          <a:xfrm>
            <a:off x="5435600" y="5689600"/>
            <a:ext cx="58515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u="sng">
                <a:hlinkClick r:id="rId3"/>
              </a:rPr>
              <a:t>https://nestedsoftware.com/2019/06/15/tic-tac-toe-with-the-minimax-algorithm-5988.123625.html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8459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3933A-534F-DD5A-8EB8-D488F615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Game demo</a:t>
            </a:r>
          </a:p>
        </p:txBody>
      </p:sp>
      <p:pic>
        <p:nvPicPr>
          <p:cNvPr id="4" name="Online Media 3" title="440 project gameplay">
            <a:hlinkClick r:id="" action="ppaction://media"/>
            <a:extLst>
              <a:ext uri="{FF2B5EF4-FFF2-40B4-BE49-F238E27FC236}">
                <a16:creationId xmlns:a16="http://schemas.microsoft.com/office/drawing/2014/main" id="{0B0E1394-31A4-5181-1071-69EEFEAD8A9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777316" y="885073"/>
            <a:ext cx="6780700" cy="508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0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DFE-3F93-35E8-D26B-32851B2E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E79DF-83D4-A76B-5503-50C7BE611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We have automated unit tests to ensure that game logic correctly handles edge-cases in the rules</a:t>
            </a:r>
          </a:p>
          <a:p>
            <a:r>
              <a:rPr lang="en-US"/>
              <a:t>Unit testing ensures that Main Agent behaves correctly for edge cases (taking local and global boards)</a:t>
            </a:r>
          </a:p>
          <a:p>
            <a:r>
              <a:rPr lang="en-US"/>
              <a:t>We have 4 benchmark models: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Random Agent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Greedy-Local Agent: unit tested (takes immediate local win)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Blocker Agent: unit tested (blocks immediate win)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Lightweight or Older Agent</a:t>
            </a:r>
          </a:p>
          <a:p>
            <a:r>
              <a:rPr lang="en-US"/>
              <a:t>We test our Main (min-max) Agent against 100 games of each, testing depths 2, 3, 4, and 5 (Moves ahead)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5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5C3D-29F8-70D3-75AC-12985BC8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E5FF9-92FB-FD10-ACC5-0395CF953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All unit Tests passed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8A13-0EBA-041F-3A52-F9611025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597150"/>
            <a:ext cx="51435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68BD47-1C74-187E-4901-1B38B2E4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024" y="2024485"/>
            <a:ext cx="4287415" cy="42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7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902FB-D24E-A75F-2CB0-68EAC18F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01D4-1976-20FF-865E-0DD61D08B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C4D876-0EE0-0EC7-FDE5-F5A554A822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115833"/>
              </p:ext>
            </p:extLst>
          </p:nvPr>
        </p:nvGraphicFramePr>
        <p:xfrm>
          <a:off x="613833" y="2159000"/>
          <a:ext cx="5482167" cy="328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8BC4414-E45D-8205-3CFD-2385A9F6AC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1643920"/>
              </p:ext>
            </p:extLst>
          </p:nvPr>
        </p:nvGraphicFramePr>
        <p:xfrm>
          <a:off x="6320366" y="2159000"/>
          <a:ext cx="5482167" cy="328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0146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A0D1-99F0-2F41-0D31-E0C3B040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Results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EFBB152-E303-998E-5B43-EE0B32B50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26540"/>
              </p:ext>
            </p:extLst>
          </p:nvPr>
        </p:nvGraphicFramePr>
        <p:xfrm>
          <a:off x="2309088" y="1690688"/>
          <a:ext cx="7409913" cy="216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59">
                  <a:extLst>
                    <a:ext uri="{9D8B030D-6E8A-4147-A177-3AD203B41FA5}">
                      <a16:colId xmlns:a16="http://schemas.microsoft.com/office/drawing/2014/main" val="3209981418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376729378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300140136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412183174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92499651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63950084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015838953"/>
                    </a:ext>
                  </a:extLst>
                </a:gridCol>
              </a:tblGrid>
              <a:tr h="884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Games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Depth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Wins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losses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Draws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Ave Move Time(s)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extLst>
                  <a:ext uri="{0D108BD9-81ED-4DB2-BD59-A6C34878D82A}">
                    <a16:rowId xmlns:a16="http://schemas.microsoft.com/office/drawing/2014/main" val="598147531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Blocker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0.0217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extLst>
                  <a:ext uri="{0D108BD9-81ED-4DB2-BD59-A6C34878D82A}">
                    <a16:rowId xmlns:a16="http://schemas.microsoft.com/office/drawing/2014/main" val="4159246778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Greedy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0.0258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extLst>
                  <a:ext uri="{0D108BD9-81ED-4DB2-BD59-A6C34878D82A}">
                    <a16:rowId xmlns:a16="http://schemas.microsoft.com/office/drawing/2014/main" val="3938334762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Heuristic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0.0197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extLst>
                  <a:ext uri="{0D108BD9-81ED-4DB2-BD59-A6C34878D82A}">
                    <a16:rowId xmlns:a16="http://schemas.microsoft.com/office/drawing/2014/main" val="493278275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Random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0.0063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43" marR="8743" marT="8743" marB="0" anchor="b"/>
                </a:tc>
                <a:extLst>
                  <a:ext uri="{0D108BD9-81ED-4DB2-BD59-A6C34878D82A}">
                    <a16:rowId xmlns:a16="http://schemas.microsoft.com/office/drawing/2014/main" val="13758386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9AEC712-6235-BFA2-37D6-557285797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35447"/>
              </p:ext>
            </p:extLst>
          </p:nvPr>
        </p:nvGraphicFramePr>
        <p:xfrm>
          <a:off x="2309088" y="4329445"/>
          <a:ext cx="7409913" cy="216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59">
                  <a:extLst>
                    <a:ext uri="{9D8B030D-6E8A-4147-A177-3AD203B41FA5}">
                      <a16:colId xmlns:a16="http://schemas.microsoft.com/office/drawing/2014/main" val="1629867072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69719927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3854984788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4138158275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18985801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66843701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4214941764"/>
                    </a:ext>
                  </a:extLst>
                </a:gridCol>
              </a:tblGrid>
              <a:tr h="884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Games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Depth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Wins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losses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Draws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Ave Move Time(s)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73467784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Blocker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0.1198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4610709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Greedy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0.1164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815710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Heuristic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8989041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Random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0.0378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6088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0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C368-A704-8B5B-8012-0CA07E53C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1B2F-97FC-BBD4-D042-EEB6B66D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Results Pt2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D1C9DE-F9DE-24B9-6716-575C484D0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33754"/>
              </p:ext>
            </p:extLst>
          </p:nvPr>
        </p:nvGraphicFramePr>
        <p:xfrm>
          <a:off x="2309086" y="4329445"/>
          <a:ext cx="7409913" cy="216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59">
                  <a:extLst>
                    <a:ext uri="{9D8B030D-6E8A-4147-A177-3AD203B41FA5}">
                      <a16:colId xmlns:a16="http://schemas.microsoft.com/office/drawing/2014/main" val="14319833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5178277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293678040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75934049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3871347909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394073235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931191139"/>
                    </a:ext>
                  </a:extLst>
                </a:gridCol>
              </a:tblGrid>
              <a:tr h="884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Games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Depth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Wins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losses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Draws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Ave Move Time(s)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extLst>
                  <a:ext uri="{0D108BD9-81ED-4DB2-BD59-A6C34878D82A}">
                    <a16:rowId xmlns:a16="http://schemas.microsoft.com/office/drawing/2014/main" val="1777569185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Blocker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1.7948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extLst>
                  <a:ext uri="{0D108BD9-81ED-4DB2-BD59-A6C34878D82A}">
                    <a16:rowId xmlns:a16="http://schemas.microsoft.com/office/drawing/2014/main" val="3769916661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Greedy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extLst>
                  <a:ext uri="{0D108BD9-81ED-4DB2-BD59-A6C34878D82A}">
                    <a16:rowId xmlns:a16="http://schemas.microsoft.com/office/drawing/2014/main" val="4227857838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Heuristic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extLst>
                  <a:ext uri="{0D108BD9-81ED-4DB2-BD59-A6C34878D82A}">
                    <a16:rowId xmlns:a16="http://schemas.microsoft.com/office/drawing/2014/main" val="244462762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Random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0.6327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27" marR="11027" marT="11027" marB="0" anchor="b"/>
                </a:tc>
                <a:extLst>
                  <a:ext uri="{0D108BD9-81ED-4DB2-BD59-A6C34878D82A}">
                    <a16:rowId xmlns:a16="http://schemas.microsoft.com/office/drawing/2014/main" val="45958483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C88BBE-1507-5170-743C-05521E97F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868791"/>
              </p:ext>
            </p:extLst>
          </p:nvPr>
        </p:nvGraphicFramePr>
        <p:xfrm>
          <a:off x="2309087" y="1690688"/>
          <a:ext cx="7409913" cy="216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59">
                  <a:extLst>
                    <a:ext uri="{9D8B030D-6E8A-4147-A177-3AD203B41FA5}">
                      <a16:colId xmlns:a16="http://schemas.microsoft.com/office/drawing/2014/main" val="74996261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06262361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3662403756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596949725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1173528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913417"/>
                    </a:ext>
                  </a:extLst>
                </a:gridCol>
                <a:gridCol w="1058559">
                  <a:extLst>
                    <a:ext uri="{9D8B030D-6E8A-4147-A177-3AD203B41FA5}">
                      <a16:colId xmlns:a16="http://schemas.microsoft.com/office/drawing/2014/main" val="2514262208"/>
                    </a:ext>
                  </a:extLst>
                </a:gridCol>
              </a:tblGrid>
              <a:tr h="884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Games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Depth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Wins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 losses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Draws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Ave Move Time(s)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9801784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Blocker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0.5307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5940165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Greedy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0.5656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6503764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Heuristic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0.4329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3397390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Random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0.1569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722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6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Widescreen</PresentationFormat>
  <Paragraphs>170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Courier New</vt:lpstr>
      <vt:lpstr>Office Theme</vt:lpstr>
      <vt:lpstr>Ultimate tic tac toe AI</vt:lpstr>
      <vt:lpstr>The Game</vt:lpstr>
      <vt:lpstr>Our solution</vt:lpstr>
      <vt:lpstr>Game demo</vt:lpstr>
      <vt:lpstr>Testing Strategy</vt:lpstr>
      <vt:lpstr>Unit Testing</vt:lpstr>
      <vt:lpstr>Testing Results</vt:lpstr>
      <vt:lpstr>Testing Results</vt:lpstr>
      <vt:lpstr>Testing Results Pt2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Tai, Elliott</dc:creator>
  <cp:lastModifiedBy>Tai, Elliott</cp:lastModifiedBy>
  <cp:revision>1</cp:revision>
  <dcterms:created xsi:type="dcterms:W3CDTF">2026-04-30T20:13:25Z</dcterms:created>
  <dcterms:modified xsi:type="dcterms:W3CDTF">2026-05-02T02:00:46Z</dcterms:modified>
</cp:coreProperties>
</file>